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なし（社内提案資料のため、外部素材・外部データは未使用）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なし（外部素材・外部データ未使用）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なし（概念整理は社内向けに一般論として記載。外部引用・外部素材なし）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なし（社内状況の整理。外部素材・外部データなし）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なし（役割分担の社内整理。外部素材・外部データなし）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なし（比較整理は社内状況に基づく。外部素材・外部データなし）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なし（成果物設計は社内向け。外部素材・外部データなし）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なし（ロードマップは提案設計。外部素材・外部データなし）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なし（KPIは提案設計。外部素材・外部データなし）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【Sources】
- なし（外部素材・外部データ未使用）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Certas新Gr 立上げ加速に向けた支援形態の提案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26517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（出向オプション：分析・シミュレーション専任＋人材育成＋DX定着）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10607040" cy="2011680"/>
          </a:xfrm>
          <a:prstGeom prst="roundRect">
            <a:avLst/>
          </a:prstGeom>
          <a:solidFill>
            <a:srgbClr val="0E3A5B"/>
          </a:solidFill>
          <a:ln w="12700">
            <a:solidFill>
              <a:srgbClr val="0E3A5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977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本提案はEID都合で出向を進めたいものではなく、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Certas側が「立上げ加速が必要」と望まれる場合に限り、選択肢として提示するものです。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作成：EID（社内DX開発・普及）／日付：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エグゼクティブサマリー（決裁の要点）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20040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7CD7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326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決裁してほしいこと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972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08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結論（条件付きの出向オプション）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・EID作業担当者 1名を Certas新Gr へ 2年間出向（※開発ではなく利用・実務）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・ミッション：①分析/シミュレーションを現地専任で回す ②人材増（OJT）③教育 ④DX定着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・EIDは引き続き：プラットフォーム開発／標準化／機能開発を協業で担当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108960" cy="320040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7CD7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529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スタンス（圧をかけない）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3832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“お願い”ではなく“選択肢提示”です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7947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・Certas側で「立上げ加速の必要性が高い」と判断される場合に限り実行します。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・受入が難しい／不要であれば無理に進めません（現行協業は継続します）。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・EIDは全社16部署支援のリソース最適配分として、他部署協業の優先度を上げて対応します。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2468880" cy="320040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7CD7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188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保険（判断しやすく）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972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303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6/12ヶ月で成果評価し継続判断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7150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・KPI（回転数・リードタイム・意思決定寄与・育成人数・定着度）で評価し、継続/修正/中止を判断します。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背景：DXは“IT導入”ではなく“判断の速さと質”です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9728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D7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875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DXの定義（本資料の前提）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データとシミュレーション結果で「判断を早く・確実にする」仕事の進め方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3492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377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立上げ期に起きやすい“遅れの構造”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709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・分析が兼務で後回し → 試行回数が増えない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・“回しただけ”で解釈が追いつかない → 次の一手が遅れる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・暗黙知（前提・制約）が多い → リモート支援は往復が増える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・できる人が増えない → 属人化・毎回やり直し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3774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立上げ期に効く“打ち手”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70916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・現地で毎週/毎日 回す専任を置く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・試行→解釈→次の試行を短サイクル化する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・結果を会議・判断に載せる（定常運用）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・OJTで“回せる人”を増やし、出向後も持続させる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現状：EIDは基盤・手段を提供／ギャップは“現地で回す専任”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972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143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現在の協業（できていること）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・EID：ClearMLベースのデータ管理・実行管理の手段提供（計測データ/条件/基礎データ、運用支援）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・社内16部署と協業し、目的・課題に応じた支援を継続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・Certas新Gr：シミュレーション/新プロセス探索を推進（立上げ期）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972800" cy="30632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ギャップ（ここがボトルネック）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10424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前提確認・優先順位変更・暗黙知の吸収が多く、リモート支援だけでは往復が増えがちです</a:t>
            </a:r>
            <a:endParaRPr lang="en-US" sz="1500" dirty="0"/>
          </a:p>
          <a:p>
            <a:pPr marL="190500" indent="-19050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分析/実行/報告が“単発”になり、試行回数（探索密度）が上がりにくいです</a:t>
            </a:r>
            <a:endParaRPr lang="en-US" sz="1500" dirty="0"/>
          </a:p>
          <a:p>
            <a:pPr marL="190500" indent="-190500">
              <a:spcAft>
                <a:spcPts val="525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結果が会議の判断材料として定常的に出にくく、意思決定が遅れやすいです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提案：出向者は“利用・実務・定着”に限定（開発はEID）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840480" cy="320040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7CD7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784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出向者がやること（Certas現地）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4864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利用・実務・定着（＝成果を出す側）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484632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データ分析：探索・可視化・仮説検証・比較評価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シミュレーション実務：計画→実行→結果整理→考察→報告（意思決定資料化）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人材増：Certas内で同様に回せる人を増やす（OJTで移管）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教育：対象部署に特化した“使い方”を定着（どう見ると効くか）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DX定着：会議/レビューで結果が使われる運用を回し続け習慣化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改善要望の整理：要件化してEIDへ（※実装はしない）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4114800" cy="320040"/>
          </a:xfrm>
          <a:prstGeom prst="roundRect">
            <a:avLst/>
          </a:prstGeom>
          <a:solidFill>
            <a:srgbClr val="E6F6F3"/>
          </a:solidFill>
          <a:ln w="12700">
            <a:solidFill>
              <a:srgbClr val="7CD7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9784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EIDが継続してやること（協業）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521208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開発・標準化・基盤改善（＝作る側）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1920240"/>
            <a:ext cx="45720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・プラットフォーム開発（機能追加・性能改善）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・標準化（共通運用・テンプレ整備）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・自動実行/管理など基盤機能の拡張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・全社横展開（16部署支援の最適化）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※出向者は開発ではなく「使って成果を出す」ことに集中します。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出向あり／なしの差分：『判断が前倒しになるか』が本質です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54406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出向なし（兼務＋リモート支援中心）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分析が後回しになりやすく、試行回数が伸びにくい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前提確認の往復が増え、1回の分析が長期化しやすい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結果が会議に載る頻度が低く、結論が遅れやすい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“できる人”が増えにくく、属人化しやすい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005840"/>
            <a:ext cx="5257800" cy="52120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234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出向あり（現地専任：分析・実務＋育成・定着）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169164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試行→解釈→次の一手が短サイクル化し、判断材料が増える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現地の暗黙知を吸収し、その場で優先順位を更新できる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結果が会議の判断材料として定常化し、結論が前倒しになる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OJTで自走者を増やし、出向後も回転が落ちにくい（持続）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6355080"/>
            <a:ext cx="10972800" cy="502920"/>
          </a:xfrm>
          <a:prstGeom prst="round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647395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差分の核心：『試行回数（探索密度）↑ → 判断材料↑ → 意思決定が前倒し』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出向者が残す成果：『作業』ではなく『意思決定アウトプット』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143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週次：判断が進む形で出す（会議に載る）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・週次レポ（A4 1–2枚想定）：試行内容／結果の要点／解釈／次の一手／リスク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・会議で結論に使える形（比較・根拠・次アクション）で提示します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49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月次：探索を“積み上がる形”にする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・仮説の採否（採用/棄却）、感度、次月計画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・重要パラメータの見立て更新（迷いを減らす）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・再利用できる分析手順（社内資産）として整理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926080"/>
            <a:ext cx="5349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31546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人材増・教育：OJTで“回せる人”を増やす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3566160"/>
            <a:ext cx="4709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・共同実務（OJT）で、現地メンバーが部分自走できる範囲を拡大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・部署特化の使い方：何を見るべきか／判断の勘所／レビューの観点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・DX定着：会議で結果が使われる習慣を回し続け、属人化を防ぐ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2年間ロードマップ（節目評価あり：6/12ヶ月で継続判断）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106070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265176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9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0–3ヶ月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立上げ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2423160"/>
            <a:ext cx="22494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・対象テーマと判断軸を整理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・週次アウトプット開始（まず回す）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280160"/>
            <a:ext cx="2651760" cy="960120"/>
          </a:xfrm>
          <a:prstGeom prst="rect">
            <a:avLst/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89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3–6ヶ月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回転数最大化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2423160"/>
            <a:ext cx="22494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・試行数を増やし判断材料を厚く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・重要仮説を絞り込み結論へ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960120"/>
          </a:xfrm>
          <a:prstGeom prst="rect">
            <a:avLst/>
          </a:prstGeom>
          <a:solidFill>
            <a:srgbClr val="FEF9C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89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6–12ヶ月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自走化開始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7648" y="2423160"/>
            <a:ext cx="22494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・現地メンバーが部分自走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・出向者は難所・高難度に集中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280160"/>
            <a:ext cx="2651760" cy="960120"/>
          </a:xfrm>
          <a:prstGeom prst="rect">
            <a:avLst/>
          </a:prstGeom>
          <a:solidFill>
            <a:srgbClr val="FCE7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38988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12–24ヶ月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定着完了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79408" y="2423160"/>
            <a:ext cx="22494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・自走者複数名／移管完了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・会議で結果が当たり前に使われる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715000"/>
            <a:ext cx="10607040" cy="640080"/>
          </a:xfrm>
          <a:prstGeom prst="round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8064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節目評価：6ヶ月／12ヶ月でKPI評価 → 継続／軌道修正／中止を判断（無理に進めない）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KPI（成果の見える化）：回転数／速度／意思決定／人材増／定着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194560" cy="670560"/>
          </a:xfrm>
          <a:prstGeom prst="rect">
            <a:avLst/>
          </a:prstGeom>
          <a:solidFill>
            <a:srgbClr val="0B2B4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1615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143000"/>
            <a:ext cx="4572000" cy="670560"/>
          </a:xfrm>
          <a:prstGeom prst="rect">
            <a:avLst/>
          </a:prstGeom>
          <a:solidFill>
            <a:srgbClr val="0B2B4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21615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KPI例（定量）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1143000"/>
            <a:ext cx="4206240" cy="670560"/>
          </a:xfrm>
          <a:prstGeom prst="rect">
            <a:avLst/>
          </a:prstGeom>
          <a:solidFill>
            <a:srgbClr val="0B2B4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6368" y="121615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狙い（なぜ効くか）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13560"/>
            <a:ext cx="2194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8671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回転数（探索密度）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34640" y="1813560"/>
            <a:ext cx="457200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88671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分析件数／シミュレーション試行数（各月）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813560"/>
            <a:ext cx="420624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6368" y="188671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試行回数↑＝判断材料↑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484120"/>
            <a:ext cx="2194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55727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484120"/>
            <a:ext cx="457200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55727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依頼→結果提示までのリードタイム（中央値）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484120"/>
            <a:ext cx="420624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255727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結論までの時間を短縮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2194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22783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意思決定寄与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3154680"/>
            <a:ext cx="457200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22783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会議で結論に至った回数（採用/棄却）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06640" y="3154680"/>
            <a:ext cx="420624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322783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迷いを減らし前倒し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825240"/>
            <a:ext cx="2194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89839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人材増（持続）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34640" y="3825240"/>
            <a:ext cx="457200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89839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自走可能者数／移管率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406640" y="3825240"/>
            <a:ext cx="420624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389839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出向後も回る状態へ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495800"/>
            <a:ext cx="219456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568952"/>
            <a:ext cx="197510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834640" y="4495800"/>
            <a:ext cx="457200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568952"/>
            <a:ext cx="435254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会議で結果が提示される頻度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06640" y="4495800"/>
            <a:ext cx="4206240" cy="6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6368" y="4568952"/>
            <a:ext cx="3986784" cy="524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DXを習慣として根付かせる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212080"/>
            <a:ext cx="10972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" y="5440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評価の使い方（上司・Certasが判断しやすい形）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5852160"/>
            <a:ext cx="10332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・6ヶ月：立上げが“回り始めたか”（回転数・リードタイム・会議提示頻度）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・12ヶ月：持続性が“見え始めたか”（自走者数・移管率・意思決定寄与）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B2B45"/>
          </a:solidFill>
          <a:ln w="12700">
            <a:solidFill>
              <a:srgbClr val="0B2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9–10. 懸念への回答／決裁事項／次アクション（YESしやすい形）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3492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1430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主な懸念と対策（先回り）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4709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人件費増 → 立上げ期の遅延・手戻り・外注増の抑制として“期間限定投資”で整理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出向者依存 → 人材増/移管をKPI化（最終的に出向者が不要な状態がゴール）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EID弱体化 → 出向者は現地実務に限定。開発/標準化/機能開発はEIDが継続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効果が薄い → 6/12ヶ月の節目評価で継続判断（軌道修正・中止が可能）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53492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1430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決裁してほしいこと（最小単位）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4709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1) Certas側が望む場合の“出向オプション”を原則合意（2年、節目評価あり）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2) 役割分担を合意：出向者＝利用/実務/育成/定着、EID＝開発/標準化/機能開発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3) KPI・マイルストーン合意（6/12ヶ月で継続判断）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4) Certas側と受入条件（費用等）の協議開始を許可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972800" cy="2148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次アクション（最短で合意形成）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1週間：Certas責任者と「対象テーマ」「成果物」「KPI」「移管方針」をすり合わせ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2週間：ロードマップ確定（6/12ヶ月の評価方法を合意）</a:t>
            </a:r>
            <a:endParaRPr lang="en-US" sz="1400" dirty="0"/>
          </a:p>
          <a:p>
            <a:pPr marL="177800" indent="-177800">
              <a:spcAft>
                <a:spcPts val="49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翌月：開始（0–3ヶ月フェーズ）※不要であれば実施しません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EID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EID</dc:creator>
  <cp:lastModifiedBy>EID</cp:lastModifiedBy>
  <cp:revision>1</cp:revision>
  <dcterms:created xsi:type="dcterms:W3CDTF">2025-12-13T00:00:32Z</dcterms:created>
  <dcterms:modified xsi:type="dcterms:W3CDTF">2025-12-13T00:00:32Z</dcterms:modified>
</cp:coreProperties>
</file>